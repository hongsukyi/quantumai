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7"/>
  </p:notesMasterIdLst>
  <p:sldIdLst>
    <p:sldId id="3509" r:id="rId2"/>
    <p:sldId id="3706" r:id="rId3"/>
    <p:sldId id="3707" r:id="rId4"/>
    <p:sldId id="3709" r:id="rId5"/>
    <p:sldId id="370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>
    <p:extLst>
      <p:ext uri="{19B8F6BF-5375-455C-9EA6-DF929625EA0E}">
        <p15:presenceInfo xmlns:p15="http://schemas.microsoft.com/office/powerpoint/2012/main" userId="815a2d43d294f6a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99"/>
    <a:srgbClr val="CCFFCC"/>
    <a:srgbClr val="E2F0D9"/>
    <a:srgbClr val="339933"/>
    <a:srgbClr val="FFD966"/>
    <a:srgbClr val="FFF2CC"/>
    <a:srgbClr val="43DD52"/>
    <a:srgbClr val="0501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160" autoAdjust="0"/>
    <p:restoredTop sz="96033" autoAdjust="0"/>
  </p:normalViewPr>
  <p:slideViewPr>
    <p:cSldViewPr snapToGrid="0">
      <p:cViewPr varScale="1">
        <p:scale>
          <a:sx n="101" d="100"/>
          <a:sy n="101" d="100"/>
        </p:scale>
        <p:origin x="144" y="16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poqa Han Sans Neo Medium" pitchFamily="2" charset="-127"/>
                <a:ea typeface="Spoqa Han Sans Neo Medium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poqa Han Sans Neo Medium" pitchFamily="2" charset="-127"/>
                <a:ea typeface="Spoqa Han Sans Neo Medium" pitchFamily="2" charset="-127"/>
              </a:defRPr>
            </a:lvl1pPr>
          </a:lstStyle>
          <a:p>
            <a:fld id="{A15229EC-3D2C-4291-B15E-A8F0B0F819A6}" type="datetimeFigureOut">
              <a:rPr lang="ko-KR" altLang="en-US" smtClean="0"/>
              <a:pPr/>
              <a:t>2026-07-13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Spoqa Han Sans Neo Medium" pitchFamily="2" charset="-127"/>
                <a:ea typeface="Spoqa Han Sans Neo Medium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poqa Han Sans Neo Medium" pitchFamily="2" charset="-127"/>
                <a:ea typeface="Spoqa Han Sans Neo Medium" pitchFamily="2" charset="-127"/>
              </a:defRPr>
            </a:lvl1pPr>
          </a:lstStyle>
          <a:p>
            <a:fld id="{C2885007-F1FF-4723-94AE-785C3E54DC8F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8200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Spoqa Han Sans Neo Medium" pitchFamily="2" charset="-127"/>
        <a:ea typeface="Spoqa Han Sans Neo Medium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Spoqa Han Sans Neo Medium" pitchFamily="2" charset="-127"/>
        <a:ea typeface="Spoqa Han Sans Neo Medium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Spoqa Han Sans Neo Medium" pitchFamily="2" charset="-127"/>
        <a:ea typeface="Spoqa Han Sans Neo Medium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Spoqa Han Sans Neo Medium" pitchFamily="2" charset="-127"/>
        <a:ea typeface="Spoqa Han Sans Neo Medium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Spoqa Han Sans Neo Medium" pitchFamily="2" charset="-127"/>
        <a:ea typeface="Spoqa Han Sans Neo Medium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1"/>
          <p:cNvSpPr txBox="1">
            <a:spLocks noGrp="1"/>
          </p:cNvSpPr>
          <p:nvPr>
            <p:ph type="title"/>
          </p:nvPr>
        </p:nvSpPr>
        <p:spPr>
          <a:xfrm>
            <a:off x="1393372" y="2222521"/>
            <a:ext cx="9065079" cy="1820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3200">
                <a:solidFill>
                  <a:srgbClr val="0070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C084AF34-8C49-44BE-BC21-1B63DF900532}"/>
              </a:ext>
            </a:extLst>
          </p:cNvPr>
          <p:cNvGrpSpPr/>
          <p:nvPr userDrawn="1"/>
        </p:nvGrpSpPr>
        <p:grpSpPr>
          <a:xfrm>
            <a:off x="-1" y="6285550"/>
            <a:ext cx="12192001" cy="104754"/>
            <a:chOff x="0" y="5138413"/>
            <a:chExt cx="12192001" cy="10475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F6E8C2AB-AC76-4DA3-A363-AE428092EC03}"/>
                </a:ext>
              </a:extLst>
            </p:cNvPr>
            <p:cNvSpPr/>
            <p:nvPr userDrawn="1"/>
          </p:nvSpPr>
          <p:spPr>
            <a:xfrm>
              <a:off x="0" y="5138413"/>
              <a:ext cx="9541565" cy="104754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0DCD469-4588-456E-81DB-2776E0E6B70D}"/>
                </a:ext>
              </a:extLst>
            </p:cNvPr>
            <p:cNvSpPr/>
            <p:nvPr userDrawn="1"/>
          </p:nvSpPr>
          <p:spPr>
            <a:xfrm>
              <a:off x="9541565" y="5138413"/>
              <a:ext cx="2650436" cy="10045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9FF05A9-920C-4937-B28E-BF2F82CAD9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88056" y="6419959"/>
            <a:ext cx="2146852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634DECA5-6CD8-44AF-ACED-5DC73A540B1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5256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788056" y="6419959"/>
            <a:ext cx="2146852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634DECA5-6CD8-44AF-ACED-5DC73A540B1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4AA0D58-5765-4440-B19D-7BE1243AA52B}"/>
              </a:ext>
            </a:extLst>
          </p:cNvPr>
          <p:cNvGrpSpPr/>
          <p:nvPr userDrawn="1"/>
        </p:nvGrpSpPr>
        <p:grpSpPr>
          <a:xfrm>
            <a:off x="-1" y="6285550"/>
            <a:ext cx="12192001" cy="104754"/>
            <a:chOff x="0" y="5138413"/>
            <a:chExt cx="12192001" cy="10475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AD4A219-E332-44F9-B66D-D498608EBD2B}"/>
                </a:ext>
              </a:extLst>
            </p:cNvPr>
            <p:cNvSpPr/>
            <p:nvPr userDrawn="1"/>
          </p:nvSpPr>
          <p:spPr>
            <a:xfrm>
              <a:off x="0" y="5138413"/>
              <a:ext cx="9541565" cy="104754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2EF85B90-E116-466E-96BA-0AA2ABD9A537}"/>
                </a:ext>
              </a:extLst>
            </p:cNvPr>
            <p:cNvSpPr/>
            <p:nvPr userDrawn="1"/>
          </p:nvSpPr>
          <p:spPr>
            <a:xfrm>
              <a:off x="9541565" y="5138413"/>
              <a:ext cx="2650436" cy="10045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5" name="그래픽 14">
            <a:extLst>
              <a:ext uri="{FF2B5EF4-FFF2-40B4-BE49-F238E27FC236}">
                <a16:creationId xmlns:a16="http://schemas.microsoft.com/office/drawing/2014/main" id="{A17B7064-3B66-4315-91E4-5CDAA51103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614" y="6470288"/>
            <a:ext cx="1704230" cy="272628"/>
          </a:xfrm>
          <a:prstGeom prst="rect">
            <a:avLst/>
          </a:prstGeom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5F399D38-B908-49F8-B2F1-2C7B42E6211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9930" y="23812"/>
            <a:ext cx="1340393" cy="657225"/>
          </a:xfrm>
          <a:prstGeom prst="rect">
            <a:avLst/>
          </a:prstGeom>
        </p:spPr>
      </p:pic>
      <p:sp>
        <p:nvSpPr>
          <p:cNvPr id="7" name="제목 개체 틀 1">
            <a:extLst>
              <a:ext uri="{FF2B5EF4-FFF2-40B4-BE49-F238E27FC236}">
                <a16:creationId xmlns:a16="http://schemas.microsoft.com/office/drawing/2014/main" id="{128EEC53-C4C4-48E3-B119-413D6C8F7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15" y="0"/>
            <a:ext cx="10090204" cy="704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latin typeface="Pretendard" panose="02000503000000020004" pitchFamily="50" charset="-127"/>
                <a:ea typeface="Pretendard" panose="02000503000000020004" pitchFamily="50" charset="-127"/>
                <a:cs typeface="Pretendard" panose="02000503000000020004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8FFC728-6F2D-4893-B5E9-1E38DE926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353" y="881948"/>
            <a:ext cx="11545294" cy="530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</p:spTree>
    <p:extLst>
      <p:ext uri="{BB962C8B-B14F-4D97-AF65-F5344CB8AC3E}">
        <p14:creationId xmlns:p14="http://schemas.microsoft.com/office/powerpoint/2010/main" val="297721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1">
            <a:extLst>
              <a:ext uri="{FF2B5EF4-FFF2-40B4-BE49-F238E27FC236}">
                <a16:creationId xmlns:a16="http://schemas.microsoft.com/office/drawing/2014/main" id="{F3FB7D25-C691-4DFF-8CA9-EE17111D5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353" y="11905"/>
            <a:ext cx="10204900" cy="681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233274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5F399D38-B908-49F8-B2F1-2C7B42E621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89930" y="23812"/>
            <a:ext cx="1340393" cy="65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37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08425F3-86A7-4CAA-B7E4-B80B26E02DC8}"/>
              </a:ext>
            </a:extLst>
          </p:cNvPr>
          <p:cNvSpPr/>
          <p:nvPr userDrawn="1"/>
        </p:nvSpPr>
        <p:spPr>
          <a:xfrm>
            <a:off x="0" y="-1"/>
            <a:ext cx="12192000" cy="70485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 b="1" dirty="0">
              <a:latin typeface="Pretendard" panose="02000503000000020004" pitchFamily="50" charset="-127"/>
              <a:ea typeface="Pretendard" panose="02000503000000020004" pitchFamily="50" charset="-127"/>
              <a:cs typeface="Pretendard" panose="02000503000000020004" pitchFamily="50" charset="-127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3353" y="881948"/>
            <a:ext cx="11545294" cy="53017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EC951EA-CFC1-46B5-BD63-13A84B623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353" y="11905"/>
            <a:ext cx="10204900" cy="6810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6086C469-508A-447A-9417-1B1EF856EA4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89930" y="23812"/>
            <a:ext cx="1340393" cy="65722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A617E-6755-4A57-B94C-A5C557BFE3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88056" y="6419959"/>
            <a:ext cx="2146852" cy="365125"/>
          </a:xfrm>
          <a:prstGeom prst="rect">
            <a:avLst/>
          </a:prstGeom>
        </p:spPr>
        <p:txBody>
          <a:bodyPr/>
          <a:lstStyle>
            <a:lvl1pPr algn="r">
              <a:defRPr/>
            </a:lvl1pPr>
          </a:lstStyle>
          <a:p>
            <a:fld id="{634DECA5-6CD8-44AF-ACED-5DC73A540B1E}" type="slidenum">
              <a:rPr lang="ko-KR" altLang="en-US" smtClean="0"/>
              <a:pPr/>
              <a:t>‹#›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09D9432-465E-4B0D-8D76-78F22AE5AA81}"/>
              </a:ext>
            </a:extLst>
          </p:cNvPr>
          <p:cNvGrpSpPr/>
          <p:nvPr userDrawn="1"/>
        </p:nvGrpSpPr>
        <p:grpSpPr>
          <a:xfrm>
            <a:off x="-1" y="6285550"/>
            <a:ext cx="12192001" cy="104754"/>
            <a:chOff x="0" y="5138413"/>
            <a:chExt cx="12192001" cy="10475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BD2474A3-6FE1-4F1E-BF25-14022BD46F14}"/>
                </a:ext>
              </a:extLst>
            </p:cNvPr>
            <p:cNvSpPr/>
            <p:nvPr userDrawn="1"/>
          </p:nvSpPr>
          <p:spPr>
            <a:xfrm>
              <a:off x="0" y="5138413"/>
              <a:ext cx="9541565" cy="104754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FC4DB05E-3E6B-4569-ADED-516CA7F5C02A}"/>
                </a:ext>
              </a:extLst>
            </p:cNvPr>
            <p:cNvSpPr/>
            <p:nvPr userDrawn="1"/>
          </p:nvSpPr>
          <p:spPr>
            <a:xfrm>
              <a:off x="9541565" y="5138413"/>
              <a:ext cx="2650436" cy="100454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래픽 11">
            <a:extLst>
              <a:ext uri="{FF2B5EF4-FFF2-40B4-BE49-F238E27FC236}">
                <a16:creationId xmlns:a16="http://schemas.microsoft.com/office/drawing/2014/main" id="{CD32DAE3-26B8-4D10-B482-23D6846CD4E6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9614" y="6470288"/>
            <a:ext cx="1704230" cy="27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32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91" r:id="rId3"/>
    <p:sldLayoutId id="2147483693" r:id="rId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1pPr>
    </p:titleStyle>
    <p:bodyStyle>
      <a:lvl1pPr marL="342900" indent="-342900" algn="l" defTabSz="914400" rtl="0" eaLnBrk="1" latinLnBrk="1" hangingPunct="1">
        <a:lnSpc>
          <a:spcPct val="90000"/>
        </a:lnSpc>
        <a:spcBef>
          <a:spcPts val="1000"/>
        </a:spcBef>
        <a:buSzPct val="70000"/>
        <a:buFont typeface="Wingdings" panose="05000000000000000000" pitchFamily="2" charset="2"/>
        <a:buChar char="v"/>
        <a:defRPr sz="2000" kern="1200">
          <a:solidFill>
            <a:schemeClr val="tx1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ü"/>
        <a:defRPr sz="1600" kern="1200">
          <a:solidFill>
            <a:schemeClr val="accent5">
              <a:lumMod val="50000"/>
            </a:schemeClr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2pPr>
      <a:lvl3pPr marL="1200150" indent="-28575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rgbClr val="0070C0"/>
          </a:solidFill>
          <a:latin typeface="Pretendard" panose="02000503000000020004" pitchFamily="50" charset="-127"/>
          <a:ea typeface="Pretendard" panose="02000503000000020004" pitchFamily="50" charset="-127"/>
          <a:cs typeface="Pretendard" panose="02000503000000020004" pitchFamily="50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4BC39CB-CC96-4B85-9056-FC924FF2E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DECA5-6CD8-44AF-ACED-5DC73A540B1E}" type="slidenum">
              <a:rPr lang="ko-KR" altLang="en-US" smtClean="0"/>
              <a:pPr/>
              <a:t>1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94094F0-6CD6-4E37-9567-A88D6633B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C179DE1B-6DD8-4176-AB01-8B4A1CCC06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8095052"/>
              </p:ext>
            </p:extLst>
          </p:nvPr>
        </p:nvGraphicFramePr>
        <p:xfrm>
          <a:off x="1739836" y="1275810"/>
          <a:ext cx="6110823" cy="4514342"/>
        </p:xfrm>
        <a:graphic>
          <a:graphicData uri="http://schemas.openxmlformats.org/drawingml/2006/table">
            <a:tbl>
              <a:tblPr/>
              <a:tblGrid>
                <a:gridCol w="550283">
                  <a:extLst>
                    <a:ext uri="{9D8B030D-6E8A-4147-A177-3AD203B41FA5}">
                      <a16:colId xmlns:a16="http://schemas.microsoft.com/office/drawing/2014/main" val="2205077582"/>
                    </a:ext>
                  </a:extLst>
                </a:gridCol>
                <a:gridCol w="1021492">
                  <a:extLst>
                    <a:ext uri="{9D8B030D-6E8A-4147-A177-3AD203B41FA5}">
                      <a16:colId xmlns:a16="http://schemas.microsoft.com/office/drawing/2014/main" val="1995637024"/>
                    </a:ext>
                  </a:extLst>
                </a:gridCol>
                <a:gridCol w="4539048">
                  <a:extLst>
                    <a:ext uri="{9D8B030D-6E8A-4147-A177-3AD203B41FA5}">
                      <a16:colId xmlns:a16="http://schemas.microsoft.com/office/drawing/2014/main" val="1381562948"/>
                    </a:ext>
                  </a:extLst>
                </a:gridCol>
              </a:tblGrid>
              <a:tr h="270764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일차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129112"/>
                  </a:ext>
                </a:extLst>
              </a:tr>
              <a:tr h="600964">
                <a:tc row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일차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09:30~12:30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○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AI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양자로 넘어가기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AI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와 머신러닝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딥러닝 핵심 개념 복습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왜 양자 컴퓨팅인가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?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139556"/>
                  </a:ext>
                </a:extLst>
              </a:tr>
              <a:tr h="6009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13:30~16:30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○ 양자컴퓨팅 기초 다지기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큐비트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중첩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얽힘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원리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양자 게이트와 회로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(Hadamard, CNOT, Pauli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Qiskit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회로 작성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Bloch Sphere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시각화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0806066"/>
                  </a:ext>
                </a:extLst>
              </a:tr>
              <a:tr h="435864">
                <a:tc row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일차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09:30~12:30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○ 양자머신러닝 소개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양자머신러닝 분류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EstimatorQNN, SamplerQNN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양자 신경망 회귀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Qiskit Machine Learing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실습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9210166"/>
                  </a:ext>
                </a:extLst>
              </a:tr>
              <a:tr h="6009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13:30~16:30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○ 고전 데이터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(IRIS)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에서 양자머신러닝 모델 활용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고전 네트워크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+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양자 레이어 결합 아이디어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양자 데이터 임베딩 전략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양자머신러닝 훈련 및 최적화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4083463"/>
                  </a:ext>
                </a:extLst>
              </a:tr>
              <a:tr h="600964">
                <a:tc row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일차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09:30~12:30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○ 양자커널 머신러닝 분류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(QSVC)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고전데이터에서 양자 특성 추출기로 양자커널 이해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QSVC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훈련 및 양자특성 추출 및 가시화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4702928"/>
                  </a:ext>
                </a:extLst>
              </a:tr>
              <a:tr h="43586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13:30~16:30</a:t>
                      </a:r>
                      <a:endParaRPr 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○ 하이브리드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QNN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Torch Connector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활용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하이브리드 양자머신러닝 분류 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508000" algn="l"/>
                          <a:tab pos="1016000" algn="l"/>
                          <a:tab pos="1277620" algn="l"/>
                          <a:tab pos="1524000" algn="l"/>
                          <a:tab pos="2032000" algn="l"/>
                          <a:tab pos="2540000" algn="l"/>
                          <a:tab pos="3048000" algn="l"/>
                          <a:tab pos="3556000" algn="l"/>
                          <a:tab pos="4064000" algn="l"/>
                          <a:tab pos="4572000" algn="l"/>
                          <a:tab pos="5080000" algn="l"/>
                          <a:tab pos="5588000" algn="l"/>
                          <a:tab pos="6096000" algn="l"/>
                          <a:tab pos="6604000" algn="l"/>
                          <a:tab pos="7112000" algn="l"/>
                          <a:tab pos="7620000" algn="l"/>
                          <a:tab pos="8128000" algn="l"/>
                          <a:tab pos="8636000" algn="l"/>
                          <a:tab pos="9144000" algn="l"/>
                          <a:tab pos="9652000" algn="l"/>
                          <a:tab pos="10160000" algn="l"/>
                          <a:tab pos="10668000" algn="l"/>
                          <a:tab pos="11176000" algn="l"/>
                          <a:tab pos="11684000" algn="l"/>
                          <a:tab pos="12192000" algn="l"/>
                          <a:tab pos="12700000" algn="l"/>
                          <a:tab pos="13208000" algn="l"/>
                          <a:tab pos="13716000" algn="l"/>
                          <a:tab pos="14224000" algn="l"/>
                          <a:tab pos="14732000" algn="l"/>
                          <a:tab pos="15240000" algn="l"/>
                          <a:tab pos="15748000" algn="l"/>
                        </a:tabLst>
                      </a:pP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실제데이터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교통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MNIST)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 하이브리드 양자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고전 활용 사례</a:t>
                      </a:r>
                      <a:endParaRPr lang="ko-KR" altLang="en-US" sz="10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992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35313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30A5F5E-2877-46F5-B174-36D48FAFE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DECA5-6CD8-44AF-ACED-5DC73A540B1E}" type="slidenum">
              <a:rPr lang="ko-KR" altLang="en-US" smtClean="0"/>
              <a:pPr/>
              <a:t>2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7E8F594-A367-48CE-8AD1-43870DA70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입자 하나 </a:t>
            </a:r>
            <a:r>
              <a:rPr lang="en-US" altLang="ko-KR"/>
              <a:t>= </a:t>
            </a:r>
            <a:r>
              <a:rPr lang="ko-KR" altLang="en-US"/>
              <a:t>큐빗 하나</a:t>
            </a:r>
            <a:r>
              <a:rPr lang="en-US" altLang="ko-KR"/>
              <a:t>, </a:t>
            </a:r>
            <a:r>
              <a:rPr lang="ko-KR" altLang="en-US"/>
              <a:t>두 슬릿 </a:t>
            </a:r>
            <a:r>
              <a:rPr lang="en-US" altLang="ko-KR"/>
              <a:t>= </a:t>
            </a:r>
            <a:r>
              <a:rPr lang="ko-KR" altLang="en-US"/>
              <a:t>중첩</a:t>
            </a:r>
          </a:p>
        </p:txBody>
      </p:sp>
      <p:pic>
        <p:nvPicPr>
          <p:cNvPr id="8" name="내용 개체 틀 7">
            <a:extLst>
              <a:ext uri="{FF2B5EF4-FFF2-40B4-BE49-F238E27FC236}">
                <a16:creationId xmlns:a16="http://schemas.microsoft.com/office/drawing/2014/main" id="{855EDED9-A9FA-4E83-9663-D8ECAC3F26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1393891"/>
            <a:ext cx="11544300" cy="4278181"/>
          </a:xfrm>
        </p:spPr>
      </p:pic>
    </p:spTree>
    <p:extLst>
      <p:ext uri="{BB962C8B-B14F-4D97-AF65-F5344CB8AC3E}">
        <p14:creationId xmlns:p14="http://schemas.microsoft.com/office/powerpoint/2010/main" val="1525280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45407C58-2A32-40D1-B5AB-7CCB1CB6C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DECA5-6CD8-44AF-ACED-5DC73A540B1E}" type="slidenum">
              <a:rPr lang="ko-KR" altLang="en-US" smtClean="0"/>
              <a:pPr/>
              <a:t>3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B53F188-BDF9-40A8-94A3-96F77AFA8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이중슬릿 </a:t>
            </a:r>
            <a:r>
              <a:rPr lang="en-US" altLang="ko-KR"/>
              <a:t>= </a:t>
            </a:r>
            <a:r>
              <a:rPr lang="ko-KR" altLang="en-US"/>
              <a:t>단일 큐빗 회로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BAAC7C-E1DA-4B01-BD74-73F6DCA94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"</a:t>
            </a:r>
            <a:r>
              <a:rPr lang="ko-KR" altLang="en-US"/>
              <a:t>입자 하나 </a:t>
            </a:r>
            <a:r>
              <a:rPr lang="en-US" altLang="ko-KR"/>
              <a:t>= </a:t>
            </a:r>
            <a:r>
              <a:rPr lang="ko-KR" altLang="en-US"/>
              <a:t>큐빗 하나</a:t>
            </a:r>
            <a:r>
              <a:rPr lang="en-US" altLang="ko-KR"/>
              <a:t>, </a:t>
            </a:r>
            <a:r>
              <a:rPr lang="ko-KR" altLang="en-US"/>
              <a:t>두 슬릿 </a:t>
            </a:r>
            <a:r>
              <a:rPr lang="en-US" altLang="ko-KR"/>
              <a:t>= </a:t>
            </a:r>
            <a:r>
              <a:rPr lang="ko-KR" altLang="en-US"/>
              <a:t>중첩</a:t>
            </a:r>
            <a:r>
              <a:rPr lang="en-US" altLang="ko-KR"/>
              <a:t>“</a:t>
            </a:r>
          </a:p>
          <a:p>
            <a:r>
              <a:rPr lang="ko-KR" altLang="en-US"/>
              <a:t>중첩 </a:t>
            </a:r>
            <a:r>
              <a:rPr lang="en-US" altLang="ko-KR"/>
              <a:t>(H </a:t>
            </a:r>
            <a:r>
              <a:rPr lang="ko-KR" altLang="en-US"/>
              <a:t>게이트</a:t>
            </a:r>
            <a:r>
              <a:rPr lang="en-US" altLang="ko-KR"/>
              <a:t>). </a:t>
            </a:r>
          </a:p>
          <a:p>
            <a:pPr lvl="1"/>
            <a:r>
              <a:rPr lang="en-US" altLang="ko-KR"/>
              <a:t>|0&gt;</a:t>
            </a:r>
            <a:r>
              <a:rPr lang="ko-KR" altLang="en-US"/>
              <a:t>에 </a:t>
            </a:r>
            <a:r>
              <a:rPr lang="en-US" altLang="ko-KR"/>
              <a:t>H</a:t>
            </a:r>
            <a:r>
              <a:rPr lang="ko-KR" altLang="en-US"/>
              <a:t>를 걸어 </a:t>
            </a:r>
            <a:r>
              <a:rPr lang="en-US" altLang="ko-KR"/>
              <a:t>(|0&gt;+|1&gt;)/√2: "</a:t>
            </a:r>
            <a:r>
              <a:rPr lang="ko-KR" altLang="en-US"/>
              <a:t>전자가 두 슬릿을 동시에 통과하는 상태</a:t>
            </a:r>
            <a:r>
              <a:rPr lang="en-US" altLang="ko-KR"/>
              <a:t>"</a:t>
            </a:r>
            <a:r>
              <a:rPr lang="ko-KR" altLang="en-US"/>
              <a:t>이다</a:t>
            </a:r>
            <a:r>
              <a:rPr lang="en-US" altLang="ko-KR"/>
              <a:t>. </a:t>
            </a:r>
            <a:r>
              <a:rPr lang="ko-KR" altLang="en-US"/>
              <a:t>상태벡터를 출력해 </a:t>
            </a:r>
            <a:r>
              <a:rPr lang="en-US" altLang="ko-KR"/>
              <a:t>50:50</a:t>
            </a:r>
            <a:r>
              <a:rPr lang="ko-KR" altLang="en-US"/>
              <a:t>임을 확인한다</a:t>
            </a:r>
            <a:r>
              <a:rPr lang="en-US" altLang="ko-KR"/>
              <a:t>. </a:t>
            </a:r>
          </a:p>
          <a:p>
            <a:r>
              <a:rPr lang="ko-KR" altLang="en-US"/>
              <a:t>단일 샷 </a:t>
            </a:r>
            <a:r>
              <a:rPr lang="en-US" altLang="ko-KR"/>
              <a:t>= </a:t>
            </a:r>
            <a:r>
              <a:rPr lang="ko-KR" altLang="en-US"/>
              <a:t>측정</a:t>
            </a:r>
            <a:r>
              <a:rPr lang="en-US" altLang="ko-KR"/>
              <a:t>. </a:t>
            </a:r>
          </a:p>
          <a:p>
            <a:pPr lvl="1"/>
            <a:r>
              <a:rPr lang="en-US" altLang="ko-KR"/>
              <a:t>shots=1</a:t>
            </a:r>
            <a:r>
              <a:rPr lang="ko-KR" altLang="en-US"/>
              <a:t>로 회로를 몇 번 돌리면</a:t>
            </a:r>
            <a:r>
              <a:rPr lang="en-US" altLang="ko-KR"/>
              <a:t>, </a:t>
            </a:r>
            <a:r>
              <a:rPr lang="ko-KR" altLang="en-US"/>
              <a:t>매번 </a:t>
            </a:r>
            <a:r>
              <a:rPr lang="en-US" altLang="ko-KR"/>
              <a:t>0 </a:t>
            </a:r>
            <a:r>
              <a:rPr lang="ko-KR" altLang="en-US"/>
              <a:t>또는 </a:t>
            </a:r>
            <a:r>
              <a:rPr lang="en-US" altLang="ko-KR"/>
              <a:t>1</a:t>
            </a:r>
            <a:r>
              <a:rPr lang="ko-KR" altLang="en-US"/>
              <a:t>이 무작위로 나온다</a:t>
            </a:r>
            <a:r>
              <a:rPr lang="en-US" altLang="ko-KR"/>
              <a:t>: "</a:t>
            </a:r>
            <a:r>
              <a:rPr lang="ko-KR" altLang="en-US"/>
              <a:t>광자 하나가 스크린 한 점에 찍히지만 어디일지는 예측 불가</a:t>
            </a:r>
            <a:r>
              <a:rPr lang="en-US" altLang="ko-KR"/>
              <a:t>." </a:t>
            </a:r>
          </a:p>
          <a:p>
            <a:r>
              <a:rPr lang="ko-KR" altLang="en-US"/>
              <a:t>샷 통계</a:t>
            </a:r>
            <a:r>
              <a:rPr lang="en-US" altLang="ko-KR"/>
              <a:t>. </a:t>
            </a:r>
          </a:p>
          <a:p>
            <a:pPr lvl="1"/>
            <a:r>
              <a:rPr lang="ko-KR" altLang="en-US"/>
              <a:t>이제 수천 샷을 돌려 히스토그램을 봅니다</a:t>
            </a:r>
            <a:r>
              <a:rPr lang="en-US" altLang="ko-KR"/>
              <a:t>. H</a:t>
            </a:r>
            <a:r>
              <a:rPr lang="ko-KR" altLang="en-US"/>
              <a:t>만 있으면 밋밋한 </a:t>
            </a:r>
            <a:r>
              <a:rPr lang="en-US" altLang="ko-KR"/>
              <a:t>50:50</a:t>
            </a:r>
            <a:r>
              <a:rPr lang="ko-KR" altLang="en-US"/>
              <a:t>이라 아직 무늬가 없다</a:t>
            </a:r>
            <a:r>
              <a:rPr lang="en-US" altLang="ko-KR"/>
              <a:t>. </a:t>
            </a:r>
          </a:p>
          <a:p>
            <a:r>
              <a:rPr lang="ko-KR" altLang="en-US"/>
              <a:t>간섭 </a:t>
            </a:r>
            <a:r>
              <a:rPr lang="en-US" altLang="ko-KR"/>
              <a:t>(H–P(φ)–H). </a:t>
            </a:r>
          </a:p>
          <a:p>
            <a:pPr lvl="1"/>
            <a:r>
              <a:rPr lang="ko-KR" altLang="en-US"/>
              <a:t>위상 </a:t>
            </a:r>
            <a:r>
              <a:rPr lang="en-US" altLang="ko-KR"/>
              <a:t>φ</a:t>
            </a:r>
            <a:r>
              <a:rPr lang="ko-KR" altLang="en-US"/>
              <a:t>를 </a:t>
            </a:r>
            <a:r>
              <a:rPr lang="en-US" altLang="ko-KR"/>
              <a:t>0→2π</a:t>
            </a:r>
            <a:r>
              <a:rPr lang="ko-KR" altLang="en-US"/>
              <a:t>로 훑으며 </a:t>
            </a:r>
            <a:r>
              <a:rPr lang="en-US" altLang="ko-KR"/>
              <a:t>P(0)=cos²(φ/2) </a:t>
            </a:r>
            <a:r>
              <a:rPr lang="ko-KR" altLang="en-US"/>
              <a:t>곡선을 그린다</a:t>
            </a:r>
            <a:r>
              <a:rPr lang="en-US" altLang="ko-KR"/>
              <a:t>. </a:t>
            </a:r>
            <a:r>
              <a:rPr lang="ko-KR" altLang="en-US"/>
              <a:t>이게 간섭 무늬입니다</a:t>
            </a:r>
            <a:r>
              <a:rPr lang="en-US" altLang="ko-KR"/>
              <a:t>. </a:t>
            </a:r>
          </a:p>
          <a:p>
            <a:pPr lvl="1"/>
            <a:r>
              <a:rPr lang="en-US" altLang="ko-KR"/>
              <a:t>φ=0</a:t>
            </a:r>
            <a:r>
              <a:rPr lang="ko-KR" altLang="en-US"/>
              <a:t>에서는 항상 </a:t>
            </a:r>
            <a:r>
              <a:rPr lang="en-US" altLang="ko-KR"/>
              <a:t>0(</a:t>
            </a:r>
            <a:r>
              <a:rPr lang="ko-KR" altLang="en-US"/>
              <a:t>보강</a:t>
            </a:r>
            <a:r>
              <a:rPr lang="en-US" altLang="ko-KR"/>
              <a:t>), φ=π</a:t>
            </a:r>
            <a:r>
              <a:rPr lang="ko-KR" altLang="en-US"/>
              <a:t>에서는 항상 </a:t>
            </a:r>
            <a:r>
              <a:rPr lang="en-US" altLang="ko-KR"/>
              <a:t>1(</a:t>
            </a:r>
            <a:r>
              <a:rPr lang="ko-KR" altLang="en-US"/>
              <a:t>상쇄</a:t>
            </a:r>
            <a:r>
              <a:rPr lang="en-US" altLang="ko-KR"/>
              <a:t>)</a:t>
            </a:r>
          </a:p>
          <a:p>
            <a:pPr lvl="1"/>
            <a:r>
              <a:rPr lang="ko-KR" altLang="en-US"/>
              <a:t>중간에 </a:t>
            </a:r>
            <a:r>
              <a:rPr lang="en-US" altLang="ko-KR"/>
              <a:t>50:50 </a:t>
            </a:r>
            <a:r>
              <a:rPr lang="ko-KR" altLang="en-US"/>
              <a:t>중첩이 있는데도 결과가 결정적으로 갈리는 게 </a:t>
            </a:r>
            <a:r>
              <a:rPr lang="en-US" altLang="ko-KR"/>
              <a:t>"</a:t>
            </a:r>
            <a:r>
              <a:rPr lang="ko-KR" altLang="en-US"/>
              <a:t>파동성</a:t>
            </a:r>
            <a:r>
              <a:rPr lang="en-US" altLang="ko-KR"/>
              <a:t>"</a:t>
            </a:r>
            <a:r>
              <a:rPr lang="ko-KR" altLang="en-US"/>
              <a:t>의 핵심입니다</a:t>
            </a:r>
            <a:r>
              <a:rPr lang="en-US" altLang="ko-KR"/>
              <a:t>. </a:t>
            </a:r>
          </a:p>
          <a:p>
            <a:r>
              <a:rPr lang="en-US" altLang="ko-KR"/>
              <a:t>(</a:t>
            </a:r>
            <a:r>
              <a:rPr lang="ko-KR" altLang="en-US"/>
              <a:t>심화</a:t>
            </a:r>
            <a:r>
              <a:rPr lang="en-US" altLang="ko-KR"/>
              <a:t>) </a:t>
            </a:r>
            <a:r>
              <a:rPr lang="ko-KR" altLang="en-US"/>
              <a:t>측정이 간섭을 없앤다</a:t>
            </a:r>
            <a:r>
              <a:rPr lang="en-US" altLang="ko-KR"/>
              <a:t>. </a:t>
            </a:r>
          </a:p>
          <a:p>
            <a:pPr lvl="1"/>
            <a:r>
              <a:rPr lang="ko-KR" altLang="en-US"/>
              <a:t>두 </a:t>
            </a:r>
            <a:r>
              <a:rPr lang="en-US" altLang="ko-KR"/>
              <a:t>H </a:t>
            </a:r>
            <a:r>
              <a:rPr lang="ko-KR" altLang="en-US"/>
              <a:t>사이에 </a:t>
            </a:r>
            <a:r>
              <a:rPr lang="en-US" altLang="ko-KR"/>
              <a:t>"</a:t>
            </a:r>
            <a:r>
              <a:rPr lang="ko-KR" altLang="en-US"/>
              <a:t>어느 슬릿</a:t>
            </a:r>
            <a:r>
              <a:rPr lang="en-US" altLang="ko-KR"/>
              <a:t>?"</a:t>
            </a:r>
            <a:r>
              <a:rPr lang="ko-KR" altLang="en-US"/>
              <a:t>을 측정하는 단계를 끼워 넣으면 무늬가 사라지고 밋밋한 </a:t>
            </a:r>
            <a:r>
              <a:rPr lang="en-US" altLang="ko-KR"/>
              <a:t>50:50</a:t>
            </a:r>
            <a:r>
              <a:rPr lang="ko-KR" altLang="en-US"/>
              <a:t>으로 돌아감</a:t>
            </a:r>
            <a:r>
              <a:rPr lang="en-US" altLang="ko-KR"/>
              <a:t>: </a:t>
            </a:r>
          </a:p>
          <a:p>
            <a:pPr lvl="1"/>
            <a:r>
              <a:rPr lang="en-US" altLang="ko-KR"/>
              <a:t>"</a:t>
            </a:r>
            <a:r>
              <a:rPr lang="ko-KR" altLang="en-US"/>
              <a:t>경로를 알면 파동성이 죽는다</a:t>
            </a:r>
            <a:r>
              <a:rPr lang="en-US" altLang="ko-KR"/>
              <a:t>" : </a:t>
            </a:r>
            <a:r>
              <a:rPr lang="ko-KR" altLang="en-US"/>
              <a:t>상보성</a:t>
            </a:r>
            <a:r>
              <a:rPr lang="en-US" altLang="ko-KR"/>
              <a:t>(complementarity)</a:t>
            </a:r>
            <a:r>
              <a:rPr lang="ko-KR" altLang="en-US"/>
              <a:t>을 체감시키는 강력한 마무리이다</a:t>
            </a:r>
            <a:r>
              <a:rPr lang="en-US" altLang="ko-KR"/>
              <a:t>.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577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8D5C039-7721-467A-A982-E2D93C50E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DECA5-6CD8-44AF-ACED-5DC73A540B1E}" type="slidenum">
              <a:rPr lang="ko-KR" altLang="en-US" smtClean="0"/>
              <a:pPr/>
              <a:t>4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7A929B8-DD53-4250-8C39-9EF676E0F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실습 과정 안내 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A7800A28-392D-433A-A262-0FC43E5F93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" y="1410868"/>
            <a:ext cx="11544300" cy="4244227"/>
          </a:xfrm>
        </p:spPr>
      </p:pic>
    </p:spTree>
    <p:extLst>
      <p:ext uri="{BB962C8B-B14F-4D97-AF65-F5344CB8AC3E}">
        <p14:creationId xmlns:p14="http://schemas.microsoft.com/office/powerpoint/2010/main" val="492252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040A19A-4DEF-41F5-9DFA-37FA79AD3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4DECA5-6CD8-44AF-ACED-5DC73A540B1E}" type="slidenum">
              <a:rPr lang="ko-KR" altLang="en-US" smtClean="0"/>
              <a:pPr/>
              <a:t>5</a:t>
            </a:fld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EDB89E8-5B4D-4232-97E4-79118C058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B9CDE55-7719-4A90-9700-C07D18ACE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2451244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Calibri Light"/>
        <a:ea typeface="나눔스퀘어 Bold"/>
        <a:cs typeface=""/>
      </a:majorFont>
      <a:minorFont>
        <a:latin typeface="Calibri"/>
        <a:ea typeface="나눔스퀘어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9569</TotalTime>
  <Words>393</Words>
  <Application>Microsoft Office PowerPoint</Application>
  <PresentationFormat>와이드스크린</PresentationFormat>
  <Paragraphs>55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4" baseType="lpstr">
      <vt:lpstr>Pretendard</vt:lpstr>
      <vt:lpstr>Spoqa Han Sans Neo Medium</vt:lpstr>
      <vt:lpstr>나눔스퀘어</vt:lpstr>
      <vt:lpstr>맑은 고딕</vt:lpstr>
      <vt:lpstr>함초롬바탕</vt:lpstr>
      <vt:lpstr>Arial</vt:lpstr>
      <vt:lpstr>Calibri</vt:lpstr>
      <vt:lpstr>Wingdings</vt:lpstr>
      <vt:lpstr>2_Office 테마</vt:lpstr>
      <vt:lpstr>PowerPoint 프레젠테이션</vt:lpstr>
      <vt:lpstr>입자 하나 = 큐빗 하나, 두 슬릿 = 중첩</vt:lpstr>
      <vt:lpstr>이중슬릿 = 단일 큐빗 회로</vt:lpstr>
      <vt:lpstr>실습 과정 안내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딥 러닝 자연어 처리 스터디 RNN에서 트랜스포머까지</dc:title>
  <dc:creator>USER</dc:creator>
  <cp:lastModifiedBy>admin</cp:lastModifiedBy>
  <cp:revision>806</cp:revision>
  <dcterms:created xsi:type="dcterms:W3CDTF">2019-11-13T07:01:23Z</dcterms:created>
  <dcterms:modified xsi:type="dcterms:W3CDTF">2026-07-13T08:33:57Z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_SA">
    <vt:lpwstr>C:\Users\USER\Desktop\RNN부터 트랜스포머까지.pptx</vt:lpwstr>
  </property>
</Properties>
</file>